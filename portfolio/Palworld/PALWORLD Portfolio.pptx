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B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5" autoAdjust="0"/>
    <p:restoredTop sz="93263" autoAdjust="0"/>
  </p:normalViewPr>
  <p:slideViewPr>
    <p:cSldViewPr snapToGrid="0" showGuides="1">
      <p:cViewPr>
        <p:scale>
          <a:sx n="75" d="100"/>
          <a:sy n="75" d="100"/>
        </p:scale>
        <p:origin x="54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4B1A5-EFAA-79B0-9219-B14DA8410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FD56CC-60B6-FF93-3246-066575B0BE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0BB29F-B1EB-A193-64A1-10A403BBC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3A69-23BB-40FA-A91F-4F1B6072888E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0CDCC7-36EF-AA2F-4752-5CF257861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23C5E3-7BD9-10C8-7280-218BEBE3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B06D8-AADF-41DF-B1D0-63C016B6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022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0A2499-8C64-9F33-1C97-DC78452C2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5B09E6-8073-84C6-01E0-B20E9E3D9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B9F8C2-561A-2A51-A474-EB21DFDA6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3A69-23BB-40FA-A91F-4F1B6072888E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BF7850-5093-7E48-97F7-8F3BA503B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0A6277-190D-22A9-219D-107CED45B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B06D8-AADF-41DF-B1D0-63C016B6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651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8398BD-90B2-0DFD-D5E5-B1C1186E8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BA5CD3-F9B6-F69A-C4C1-30C1B4A53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CC97D6-877E-F04B-DA59-3C3E5C88B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3A69-23BB-40FA-A91F-4F1B6072888E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9095F3-741E-6BA3-D0D9-7374C29FA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BAA818-1ACA-A680-1BA6-85A090C20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B06D8-AADF-41DF-B1D0-63C016B6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645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F91F67-DE0E-EBD9-A25B-8DD98328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05A0FF-1836-6A5B-E845-DDEB87A2D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C37AEF-4FA3-5412-80FC-40657BA3A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C0267A-0D63-5D34-1233-3C8D4F39C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3A69-23BB-40FA-A91F-4F1B6072888E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7CB5D5-9B48-9F9D-2FB2-9CB460491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B693CD-1B50-BE54-CA11-E780A20B4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B06D8-AADF-41DF-B1D0-63C016B6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48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EE731-2D2B-B681-D345-037219197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F55D14-835E-3739-C7BA-BC093A65E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BB5D9B-EC2A-08FB-DCA7-6FF5EED2E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2F37AD9-457B-2C5A-D82C-18C9E5CE9D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0B0BDA-D2C2-F02F-9015-225A3954E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3CA5E0A-B0C1-9C00-CA2A-9BF61F976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3A69-23BB-40FA-A91F-4F1B6072888E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4935DD8-B994-DD80-F72A-4C7CBF99C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0548004-A9B9-C801-86FC-ECA6A6FEF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B06D8-AADF-41DF-B1D0-63C016B6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075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36E350-7FEA-B72B-715B-DC66A17D9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E0167C6-3E5D-B06F-0324-0ED7AAC8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3A69-23BB-40FA-A91F-4F1B6072888E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852311-7199-D487-8715-30CC0B14B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7ACA20-9A0E-14C6-41E4-3DC69795A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B06D8-AADF-41DF-B1D0-63C016B6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75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A87E3E7-D0F3-9EB6-3BB2-6D3CCEE62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3A69-23BB-40FA-A91F-4F1B6072888E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EA09CA-8CF0-AE46-6E03-FE5262055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6CDC04-27ED-3E3E-D383-9E07523A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B06D8-AADF-41DF-B1D0-63C016B6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347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71F98-8155-6D9B-DF13-8F28151F7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ED1C98-2498-0AD7-0DA8-3DBA87D9A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1A3CAA-D16C-D805-0350-239FE984E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DFBF4B-387F-F977-C85D-271786FFE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3A69-23BB-40FA-A91F-4F1B6072888E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82D34F-628C-0081-1C77-C694238C2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E42150-1DE8-C1E3-26BC-156FFE739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B06D8-AADF-41DF-B1D0-63C016B6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224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D98F8B-28B7-3F21-91A5-3D3C133FB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C621907-83D0-DFF0-1835-A9DE8E8DAB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3B3ED2-98BF-7008-3286-45F0DB601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288193-00FF-BB67-23D4-A24AE283F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3A69-23BB-40FA-A91F-4F1B6072888E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CB0A67-0AE8-9C36-52B1-8CE65BE60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725BAA-D3B1-6A61-5FCA-A27DAE345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B06D8-AADF-41DF-B1D0-63C016B6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862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54C594-4BEA-C44B-B189-6052F103E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F1032F-C8AB-BF12-40E4-AD9DADBFE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D4C2EA-B140-B5AD-3D09-B64FC20F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3A69-23BB-40FA-A91F-4F1B6072888E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1FF94F-526A-0B3C-D8B4-A0F80D049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7E086F-4DF5-AC8F-0FF5-4F114E539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B06D8-AADF-41DF-B1D0-63C016B6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051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637B4B-CAFC-8F60-1E9E-4C541527B1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499C75-08FB-6FBA-B6C7-67400A32F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ACE6F9-D712-80E4-4B1C-93031FAC3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3A69-23BB-40FA-A91F-4F1B6072888E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D39297-7D9D-820E-1C49-4FB181CE3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FF01B6-7750-559C-7CC8-976DB8F5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B06D8-AADF-41DF-B1D0-63C016B6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371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07AB189-EFBA-4486-05C2-27D801316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55B886-91F0-6071-B9F8-4D93F03BE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A7162F-538C-8B4C-6014-47B20C4CE2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53A69-23BB-40FA-A91F-4F1B6072888E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41B4ED-4C37-8E7B-CD76-49A88BECE2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2142B8-870B-EA58-8335-D0423A2DE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3B06D8-AADF-41DF-B1D0-63C016B6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8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image.png">
            <a:extLst>
              <a:ext uri="{FF2B5EF4-FFF2-40B4-BE49-F238E27FC236}">
                <a16:creationId xmlns:a16="http://schemas.microsoft.com/office/drawing/2014/main" id="{B3BD7185-72F4-6DC5-CDD7-5AE760171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B458F39-AD92-CEDB-1B8D-D5E2914F8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6614"/>
            <a:ext cx="9144000" cy="1655763"/>
          </a:xfrm>
        </p:spPr>
        <p:txBody>
          <a:bodyPr/>
          <a:lstStyle/>
          <a:p>
            <a:r>
              <a:rPr lang="en-US" altLang="ko-KR" dirty="0">
                <a:solidFill>
                  <a:srgbClr val="38BDF8"/>
                </a:solidFill>
                <a:latin typeface="Arial Black" panose="020B0A04020102020204" pitchFamily="34" charset="0"/>
                <a:ea typeface="청소년서체" panose="02020603020101020101" pitchFamily="18" charset="-127"/>
              </a:rPr>
              <a:t>PALWORLD</a:t>
            </a:r>
            <a:endParaRPr lang="ko-KR" altLang="en-US" dirty="0">
              <a:solidFill>
                <a:srgbClr val="38BDF8"/>
              </a:solidFill>
              <a:latin typeface="Arial Black" panose="020B0A04020102020204" pitchFamily="34" charset="0"/>
              <a:ea typeface="청소년서체" panose="0202060302010102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B3D6A0-44E9-531B-1732-616D7E93A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04136"/>
          </a:xfrm>
        </p:spPr>
        <p:txBody>
          <a:bodyPr>
            <a:no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rPr>
              <a:t>QA Portfolio</a:t>
            </a:r>
            <a:endParaRPr lang="ko-KR" altLang="en-US" sz="3200" dirty="0">
              <a:solidFill>
                <a:schemeClr val="bg1"/>
              </a:solidFill>
              <a:latin typeface="청소년서체" panose="02020603020101020101" pitchFamily="18" charset="-127"/>
              <a:ea typeface="청소년서체" panose="02020603020101020101" pitchFamily="18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1C979A6E-DF8C-1941-011B-134DDE055F6F}"/>
              </a:ext>
            </a:extLst>
          </p:cNvPr>
          <p:cNvSpPr txBox="1">
            <a:spLocks/>
          </p:cNvSpPr>
          <p:nvPr/>
        </p:nvSpPr>
        <p:spPr>
          <a:xfrm>
            <a:off x="1524000" y="4328991"/>
            <a:ext cx="9144000" cy="643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>
                <a:solidFill>
                  <a:schemeClr val="bg1">
                    <a:lumMod val="8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오픈월드 서바이벌 </a:t>
            </a:r>
            <a:r>
              <a:rPr lang="ko-KR" altLang="en-US" sz="1600" dirty="0" err="1">
                <a:solidFill>
                  <a:schemeClr val="bg1">
                    <a:lumMod val="8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크래프팅</a:t>
            </a:r>
            <a:r>
              <a:rPr lang="ko-KR" altLang="en-US" sz="1600" dirty="0">
                <a:solidFill>
                  <a:schemeClr val="bg1">
                    <a:lumMod val="8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게임 </a:t>
            </a:r>
            <a:r>
              <a:rPr lang="en-US" altLang="ko-KR" sz="1600" dirty="0">
                <a:solidFill>
                  <a:schemeClr val="bg1">
                    <a:lumMod val="8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‘</a:t>
            </a:r>
            <a:r>
              <a:rPr lang="ko-KR" altLang="en-US" sz="1600" dirty="0" err="1">
                <a:solidFill>
                  <a:schemeClr val="bg1">
                    <a:lumMod val="8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팰월드</a:t>
            </a:r>
            <a:r>
              <a:rPr lang="en-US" altLang="ko-KR" sz="1600" dirty="0">
                <a:solidFill>
                  <a:schemeClr val="bg1">
                    <a:lumMod val="8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’ 1.0</a:t>
            </a:r>
            <a:r>
              <a:rPr lang="ko-KR" altLang="en-US" sz="1600" dirty="0">
                <a:solidFill>
                  <a:schemeClr val="bg1">
                    <a:lumMod val="8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의</a:t>
            </a:r>
            <a:endParaRPr lang="en-US" altLang="ko-KR" sz="1600" dirty="0">
              <a:solidFill>
                <a:schemeClr val="bg1">
                  <a:lumMod val="85000"/>
                </a:schemeClr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600" dirty="0">
                <a:solidFill>
                  <a:schemeClr val="bg1">
                    <a:lumMod val="8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QA </a:t>
            </a:r>
            <a:r>
              <a:rPr lang="ko-KR" altLang="en-US" sz="1600" dirty="0">
                <a:solidFill>
                  <a:schemeClr val="bg1">
                    <a:lumMod val="8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결함 포트폴리오</a:t>
            </a: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2787334C-A465-D384-30F1-B0A0C4DEB5AE}"/>
              </a:ext>
            </a:extLst>
          </p:cNvPr>
          <p:cNvSpPr>
            <a:spLocks noChangeAspect="1"/>
          </p:cNvSpPr>
          <p:nvPr/>
        </p:nvSpPr>
        <p:spPr>
          <a:xfrm>
            <a:off x="3576000" y="5335143"/>
            <a:ext cx="5040000" cy="540000"/>
          </a:xfrm>
          <a:prstGeom prst="flowChartAlternateProcess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23F2D3-6A65-35A1-DFC5-22F1132B467F}"/>
              </a:ext>
            </a:extLst>
          </p:cNvPr>
          <p:cNvSpPr txBox="1"/>
          <p:nvPr/>
        </p:nvSpPr>
        <p:spPr>
          <a:xfrm>
            <a:off x="3653900" y="5466643"/>
            <a:ext cx="4884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작성자</a:t>
            </a:r>
            <a:r>
              <a:rPr lang="en-US" altLang="ko-KR" sz="1200" dirty="0">
                <a:solidFill>
                  <a:schemeClr val="bg1"/>
                </a:solidFill>
              </a:rPr>
              <a:t>: </a:t>
            </a:r>
            <a:r>
              <a:rPr lang="ko-KR" altLang="en-US" sz="1200" dirty="0">
                <a:solidFill>
                  <a:schemeClr val="bg1"/>
                </a:solidFill>
              </a:rPr>
              <a:t>전성철</a:t>
            </a:r>
            <a:r>
              <a:rPr lang="en-US" altLang="ko-KR" sz="1200" dirty="0">
                <a:solidFill>
                  <a:schemeClr val="bg1"/>
                </a:solidFill>
              </a:rPr>
              <a:t>   Email: junsc0918@naver.com   H.P: 010-9068-4036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843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D7652-2785-836E-2F48-E16A16924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image.png">
            <a:extLst>
              <a:ext uri="{FF2B5EF4-FFF2-40B4-BE49-F238E27FC236}">
                <a16:creationId xmlns:a16="http://schemas.microsoft.com/office/drawing/2014/main" id="{38B5EAA7-5277-3439-9C86-C40E61DE2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92A98E-D84B-9DE2-15D9-0D4219938E83}"/>
              </a:ext>
            </a:extLst>
          </p:cNvPr>
          <p:cNvSpPr txBox="1"/>
          <p:nvPr/>
        </p:nvSpPr>
        <p:spPr>
          <a:xfrm>
            <a:off x="3032961" y="3131865"/>
            <a:ext cx="6126078" cy="5370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9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01. </a:t>
            </a:r>
            <a:r>
              <a:rPr sz="39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게임</a:t>
            </a:r>
            <a:r>
              <a:rPr sz="39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39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개요</a:t>
            </a:r>
            <a:r>
              <a:rPr sz="39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및 </a:t>
            </a:r>
            <a:r>
              <a:rPr sz="39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핵심</a:t>
            </a:r>
            <a:r>
              <a:rPr sz="39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39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구조</a:t>
            </a:r>
            <a:endParaRPr sz="3900" b="1" i="0" u="none" dirty="0">
              <a:solidFill>
                <a:srgbClr val="F8FAFC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D6EB14-4F44-C8A2-DB34-0748C9038194}"/>
              </a:ext>
            </a:extLst>
          </p:cNvPr>
          <p:cNvSpPr txBox="1"/>
          <p:nvPr/>
        </p:nvSpPr>
        <p:spPr>
          <a:xfrm>
            <a:off x="2845563" y="3884391"/>
            <a:ext cx="6500874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Palworld의</a:t>
            </a:r>
            <a:r>
              <a:rPr sz="15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타이틀</a:t>
            </a:r>
            <a:r>
              <a:rPr sz="15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특징</a:t>
            </a:r>
            <a:r>
              <a:rPr sz="15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sz="15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코어</a:t>
            </a:r>
            <a:r>
              <a:rPr sz="15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루프</a:t>
            </a:r>
            <a:r>
              <a:rPr sz="15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sz="15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주요</a:t>
            </a:r>
            <a:r>
              <a:rPr sz="15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콘텐츠</a:t>
            </a:r>
            <a:r>
              <a:rPr sz="15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시스템</a:t>
            </a:r>
            <a:r>
              <a:rPr sz="15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및 </a:t>
            </a:r>
            <a:r>
              <a:rPr sz="15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세력</a:t>
            </a:r>
            <a:r>
              <a:rPr sz="15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구조</a:t>
            </a:r>
            <a:r>
              <a:rPr sz="15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분석</a:t>
            </a:r>
            <a:endParaRPr sz="1500" b="0" i="0" u="none" dirty="0">
              <a:solidFill>
                <a:srgbClr val="94A3B8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1282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861220"/>
            <a:ext cx="5324475" cy="199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개발</a:t>
            </a:r>
            <a:r>
              <a:rPr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/ </a:t>
            </a:r>
            <a:r>
              <a:rPr sz="12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배급</a:t>
            </a:r>
            <a:r>
              <a:rPr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Pocketpair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(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언리얼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엔진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204120"/>
            <a:ext cx="5324475" cy="199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장르:</a:t>
            </a:r>
            <a:r>
              <a:rPr sz="1200" b="0" i="0" u="none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오픈월드 서바이벌 크래프팅 &amp; 몬스터 테이밍 RPG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547020"/>
            <a:ext cx="5324475" cy="430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핵심</a:t>
            </a:r>
            <a:r>
              <a:rPr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콘셉트</a:t>
            </a:r>
            <a:r>
              <a:rPr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280여 종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이상의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'팰(Pal)'을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포획하여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전투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탑승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거점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건축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및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공장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자동화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노동에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활용하는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멀티플레이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게임</a:t>
            </a:r>
            <a:endParaRPr sz="1200" b="0" i="0" u="none" dirty="0">
              <a:solidFill>
                <a:srgbClr val="94A3B8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1025" y="4118520"/>
            <a:ext cx="5324475" cy="430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QA </a:t>
            </a:r>
            <a:r>
              <a:rPr sz="12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목적</a:t>
            </a:r>
            <a:r>
              <a:rPr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신규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콘텐츠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업데이트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및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시스템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확장</a:t>
            </a:r>
            <a:r>
              <a:rPr lang="en-US" sz="1200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과정에서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발생하는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밸런스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붕괴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시스템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결함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및 UI/UX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편의성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이슈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검증</a:t>
            </a:r>
            <a:endParaRPr sz="1200" b="0" i="0" u="none" dirty="0">
              <a:solidFill>
                <a:srgbClr val="94A3B8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3425" y="466725"/>
            <a:ext cx="11421427" cy="353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 dirty="0" err="1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Palworld</a:t>
            </a:r>
            <a:r>
              <a:rPr sz="2550" b="1" i="0" u="none" dirty="0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2550" b="1" i="0" u="none" dirty="0" err="1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게임</a:t>
            </a:r>
            <a:r>
              <a:rPr sz="2550" b="1" i="0" u="none" dirty="0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2550" b="1" i="0" u="none" dirty="0" err="1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개요</a:t>
            </a:r>
            <a:endParaRPr sz="2550" b="1" i="0" u="none" dirty="0">
              <a:solidFill>
                <a:srgbClr val="38BDF8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1025" y="466725"/>
            <a:ext cx="47625" cy="38859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B0F3996-9BC8-AD0F-5C54-4D1B3CEA18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138" y="1910954"/>
            <a:ext cx="5410689" cy="30360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26059"/>
            <a:ext cx="3524250" cy="24992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526059"/>
            <a:ext cx="3524250" cy="24992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526059"/>
            <a:ext cx="3524250" cy="249927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802284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3602384"/>
            <a:ext cx="1405956" cy="228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1. 탐험 &amp; 포획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949005"/>
            <a:ext cx="2971800" cy="440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오픈월드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필드를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탐험하고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팰</a:t>
            </a:r>
            <a:r>
              <a:rPr lang="en-US"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스피어를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투척하여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다양한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속성의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팰을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포획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및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수집</a:t>
            </a:r>
            <a:endParaRPr sz="1200" b="0" i="0" u="none" dirty="0">
              <a:solidFill>
                <a:srgbClr val="94A3B8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0100" y="2802284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0100" y="3602384"/>
            <a:ext cx="2127140" cy="228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2. 거점 구축 &amp; 자동화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3949005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팰의 고유 적성(불 켜기, 채굴, 수작업 등)에 맞춰 거점에 배치, 자원 채집 및 아이템 자동 생산 라인 구축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2950" y="2802284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2950" y="3602384"/>
            <a:ext cx="1907113" cy="228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3. 전투 &amp; 보스 공략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2950" y="3949005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플레이어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무기와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팰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파트너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스킬의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시너지를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활용하여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5대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세력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탑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보스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필드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보스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투기장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및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레이드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콘텐츠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공략</a:t>
            </a:r>
            <a:endParaRPr sz="1200" b="0" i="0" u="none" dirty="0">
              <a:solidFill>
                <a:srgbClr val="94A3B8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551" y="2935634"/>
            <a:ext cx="266848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1401" y="2935634"/>
            <a:ext cx="266848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34251" y="2935634"/>
            <a:ext cx="266848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3425" y="466725"/>
            <a:ext cx="11421427" cy="353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 dirty="0" err="1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게임</a:t>
            </a:r>
            <a:r>
              <a:rPr sz="2550" b="1" i="0" u="none" dirty="0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2550" b="1" i="0" u="none" dirty="0" err="1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핵심</a:t>
            </a:r>
            <a:r>
              <a:rPr sz="2550" b="1" i="0" u="none" dirty="0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2550" b="1" i="0" u="none" dirty="0" err="1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코어</a:t>
            </a:r>
            <a:r>
              <a:rPr sz="2550" b="1" i="0" u="none" dirty="0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2550" b="1" i="0" u="none" dirty="0" err="1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루프</a:t>
            </a:r>
            <a:r>
              <a:rPr sz="2550" b="1" i="0" u="none" dirty="0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(Core Loop)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466725"/>
            <a:ext cx="47625" cy="38859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64184"/>
            <a:ext cx="5324475" cy="20230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64184"/>
            <a:ext cx="5324475" cy="20230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5350" y="3078509"/>
            <a:ext cx="4930616" cy="228268"/>
          </a:xfrm>
          <a:prstGeom prst="rect">
            <a:avLst/>
          </a:prstGeom>
          <a:noFill/>
        </p:spPr>
        <p:txBody>
          <a:bodyPr wrap="square" lIns="163115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팰 육성 및 교배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3444180"/>
            <a:ext cx="5197316" cy="660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• </a:t>
            </a:r>
            <a:r>
              <a:rPr sz="12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파트너</a:t>
            </a:r>
            <a:r>
              <a:rPr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스킬</a:t>
            </a:r>
            <a:r>
              <a:rPr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탑승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속성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부여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등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팰별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독자적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시너지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제공</a:t>
            </a:r>
            <a:r>
              <a:rPr sz="1200" dirty="0">
                <a:latin typeface="굴림" panose="020B0600000101010101" pitchFamily="50" charset="-127"/>
                <a:ea typeface="굴림" panose="020B0600000101010101" pitchFamily="50" charset="-127"/>
              </a:rPr>
              <a:t>
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• </a:t>
            </a:r>
            <a:r>
              <a:rPr sz="12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교배</a:t>
            </a:r>
            <a:r>
              <a:rPr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및 </a:t>
            </a:r>
            <a:r>
              <a:rPr sz="12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유전</a:t>
            </a:r>
            <a:r>
              <a:rPr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부모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팰의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능력을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상속시켜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최상위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성능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개체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육성</a:t>
            </a:r>
            <a:r>
              <a:rPr sz="1200" dirty="0">
                <a:latin typeface="굴림" panose="020B0600000101010101" pitchFamily="50" charset="-127"/>
                <a:ea typeface="굴림" panose="020B0600000101010101" pitchFamily="50" charset="-127"/>
              </a:rPr>
              <a:t>
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• </a:t>
            </a:r>
            <a:r>
              <a:rPr sz="12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힘의</a:t>
            </a:r>
            <a:r>
              <a:rPr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석상</a:t>
            </a:r>
            <a:r>
              <a:rPr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팰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영혼을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바쳐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HP,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공격력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방어력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스탯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개별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강화</a:t>
            </a:r>
            <a:endParaRPr sz="1200" b="0" i="0" u="none" dirty="0">
              <a:solidFill>
                <a:srgbClr val="94A3B8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00825" y="3078509"/>
            <a:ext cx="4930616" cy="228268"/>
          </a:xfrm>
          <a:prstGeom prst="rect">
            <a:avLst/>
          </a:prstGeom>
          <a:noFill/>
        </p:spPr>
        <p:txBody>
          <a:bodyPr wrap="square" lIns="163115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도전 콘텐츠 &amp; 신규 구역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444180"/>
            <a:ext cx="4695825" cy="660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• </a:t>
            </a:r>
            <a:r>
              <a:rPr sz="12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투기장</a:t>
            </a:r>
            <a:r>
              <a:rPr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(PvP/</a:t>
            </a:r>
            <a:r>
              <a:rPr sz="12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PvE</a:t>
            </a:r>
            <a:r>
              <a:rPr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):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5마리 덱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편성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후 3마리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출전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방식의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배틀</a:t>
            </a:r>
            <a:r>
              <a:rPr sz="1200" dirty="0">
                <a:latin typeface="굴림" panose="020B0600000101010101" pitchFamily="50" charset="-127"/>
                <a:ea typeface="굴림" panose="020B0600000101010101" pitchFamily="50" charset="-127"/>
              </a:rPr>
              <a:t>
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• </a:t>
            </a:r>
            <a:r>
              <a:rPr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팰 </a:t>
            </a:r>
            <a:r>
              <a:rPr sz="12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원정</a:t>
            </a:r>
            <a:r>
              <a:rPr lang="ko-KR" altLang="en-US"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대</a:t>
            </a:r>
            <a:r>
              <a:rPr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팰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부대를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파견하여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고가치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자원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및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전용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재화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획득</a:t>
            </a:r>
            <a:r>
              <a:rPr sz="1200" dirty="0">
                <a:latin typeface="굴림" panose="020B0600000101010101" pitchFamily="50" charset="-127"/>
                <a:ea typeface="굴림" panose="020B0600000101010101" pitchFamily="50" charset="-127"/>
              </a:rPr>
              <a:t>
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• </a:t>
            </a:r>
            <a:r>
              <a:rPr sz="12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세계수</a:t>
            </a:r>
            <a:r>
              <a:rPr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&amp; </a:t>
            </a:r>
            <a:r>
              <a:rPr sz="12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천공섬</a:t>
            </a:r>
            <a:r>
              <a:rPr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최상위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라이브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서비스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개척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테크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구역</a:t>
            </a:r>
            <a:endParaRPr sz="1200" b="0" i="0" u="none" dirty="0">
              <a:solidFill>
                <a:srgbClr val="94A3B8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3097559"/>
            <a:ext cx="16311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3097559"/>
            <a:ext cx="16311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3425" y="466725"/>
            <a:ext cx="11421427" cy="353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주요 시스템 및 엔드 콘텐츠 구조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466725"/>
            <a:ext cx="47625" cy="38859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836515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32535" y="3103215"/>
            <a:ext cx="7926928" cy="5370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9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02. QA </a:t>
            </a:r>
            <a:r>
              <a:rPr sz="39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프로젝트</a:t>
            </a:r>
            <a:r>
              <a:rPr sz="39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39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개요</a:t>
            </a:r>
            <a:r>
              <a:rPr sz="39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&amp; </a:t>
            </a:r>
            <a:r>
              <a:rPr sz="39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핵심</a:t>
            </a:r>
            <a:r>
              <a:rPr sz="39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39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지표</a:t>
            </a:r>
            <a:endParaRPr sz="3900" b="1" i="0" u="none" dirty="0">
              <a:solidFill>
                <a:srgbClr val="F8FAFC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44788" y="3849885"/>
            <a:ext cx="5102274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Ver 1.0 </a:t>
            </a:r>
            <a:r>
              <a:rPr sz="15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빌드</a:t>
            </a:r>
            <a:r>
              <a:rPr sz="15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검증</a:t>
            </a:r>
            <a:r>
              <a:rPr sz="15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결과</a:t>
            </a:r>
            <a:r>
              <a:rPr sz="15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및 </a:t>
            </a:r>
            <a:r>
              <a:rPr sz="15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심각도별</a:t>
            </a:r>
            <a:r>
              <a:rPr sz="15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결함</a:t>
            </a:r>
            <a:r>
              <a:rPr sz="15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분포</a:t>
            </a:r>
            <a:r>
              <a:rPr sz="15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요약</a:t>
            </a:r>
            <a:endParaRPr sz="1500" b="0" i="0" u="none" dirty="0">
              <a:solidFill>
                <a:srgbClr val="94A3B8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37383"/>
            <a:ext cx="5324475" cy="2276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50" y="3027908"/>
            <a:ext cx="45434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sz="9000" b="1" i="0" u="none">
                <a:solidFill>
                  <a:srgbClr val="38BDF8"/>
                </a:solidFill>
                <a:latin typeface="Poppin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4266158"/>
            <a:ext cx="454342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E2E8F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총 도출 주요 결함 (Issues)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887860"/>
            <a:ext cx="5590698" cy="228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E2E8F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심각도(Severity) 중심의 집중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253531"/>
            <a:ext cx="53244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• </a:t>
            </a:r>
            <a:r>
              <a:rPr sz="1200" b="1" i="0" u="none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Highest (매우 높음):</a:t>
            </a:r>
            <a:r>
              <a:rPr sz="1200" b="0" i="0" u="none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3건 (25%) - 게임 진행 불능, 핵심 로직 파괴</a:t>
            </a:r>
            <a:r>
              <a:rPr>
                <a:latin typeface="굴림" panose="020B0600000101010101" pitchFamily="50" charset="-127"/>
                <a:ea typeface="굴림" panose="020B0600000101010101" pitchFamily="50" charset="-127"/>
              </a:rPr>
              <a:t>
</a:t>
            </a:r>
            <a:r>
              <a:rPr sz="1200" b="0" i="0" u="none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• </a:t>
            </a:r>
            <a:r>
              <a:rPr sz="1200" b="1" i="0" u="none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High (높음):</a:t>
            </a:r>
            <a:r>
              <a:rPr sz="1200" b="0" i="0" u="none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4건 (33%) - 성장 테크 무력화 및 보상 역전 현상</a:t>
            </a:r>
            <a:r>
              <a:rPr>
                <a:latin typeface="굴림" panose="020B0600000101010101" pitchFamily="50" charset="-127"/>
                <a:ea typeface="굴림" panose="020B0600000101010101" pitchFamily="50" charset="-127"/>
              </a:rPr>
              <a:t>
</a:t>
            </a:r>
            <a:r>
              <a:rPr sz="1200" b="0" i="0" u="none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• </a:t>
            </a:r>
            <a:r>
              <a:rPr sz="1200" b="1" i="0" u="none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Medium (보통):</a:t>
            </a:r>
            <a:r>
              <a:rPr sz="1200" b="0" i="0" u="none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5건 (42%) - 지형 끼임, UI 겹침, 반복 조작 피로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4091731"/>
            <a:ext cx="5324475" cy="430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게임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핵심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성장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동선과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경제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시스템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유효성을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훼손하는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High </a:t>
            </a:r>
            <a:r>
              <a:rPr sz="12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이상</a:t>
            </a:r>
            <a:r>
              <a:rPr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1" i="0" u="none" dirty="0" err="1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결함이</a:t>
            </a:r>
            <a:r>
              <a:rPr sz="1200" b="1" i="0" u="none" dirty="0">
                <a:solidFill>
                  <a:srgbClr val="F8FAF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58%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를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차지하여</a:t>
            </a:r>
            <a:r>
              <a:rPr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우선</a:t>
            </a:r>
            <a:r>
              <a:rPr lang="en-US"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200" b="0" i="0" u="none" dirty="0">
                <a:solidFill>
                  <a:srgbClr val="94A3B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순위 개선이 필요함</a:t>
            </a:r>
            <a:endParaRPr sz="1200" b="0" i="0" u="none" dirty="0">
              <a:solidFill>
                <a:srgbClr val="94A3B8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3425" y="466725"/>
            <a:ext cx="11421427" cy="353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QA 검증 성과 및 결함 통계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466725"/>
            <a:ext cx="47625" cy="38859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39701"/>
            <a:ext cx="11029950" cy="327183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95681"/>
              </p:ext>
            </p:extLst>
          </p:nvPr>
        </p:nvGraphicFramePr>
        <p:xfrm>
          <a:off x="590550" y="2149226"/>
          <a:ext cx="11010898" cy="3794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1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1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84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03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213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심각도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분류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결함 정의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영향도 분석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131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QAP-01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[BAL]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캐티메이지+냥시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시너지로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포획률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과부화</a:t>
                      </a:r>
                      <a:endParaRPr sz="1050" b="0" i="0" u="none" dirty="0">
                        <a:solidFill>
                          <a:srgbClr val="94A3B8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저레벨 유저의 최상위 보스 손쉬운 포획 (성장 테크 무력화)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131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QAP-02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[SYS]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절벽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지형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팰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소환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끼임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및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사망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시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지하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낙하</a:t>
                      </a:r>
                      <a:endParaRPr sz="1050" b="0" i="0" u="none" dirty="0">
                        <a:solidFill>
                          <a:srgbClr val="94A3B8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상호작용 불능 및 드랍 아이템/시체 회수 불가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131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QAP-03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Highest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[LD]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천공섬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포탈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접근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제약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부재로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조기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진입</a:t>
                      </a:r>
                      <a:endParaRPr sz="1050" b="0" i="0" u="none" dirty="0">
                        <a:solidFill>
                          <a:srgbClr val="94A3B8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초중반 탐험 단계 무력화 및 기존 테크 가치 상실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131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QAP-04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[BAL]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팰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원정도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난이도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상승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대비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보상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배율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역전</a:t>
                      </a:r>
                      <a:endParaRPr sz="1050" b="0" i="0" u="none" dirty="0">
                        <a:solidFill>
                          <a:srgbClr val="94A3B8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상위 원정지 진입 메리트 상실 및 보상 역전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132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QAP-05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Highest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[SYS]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투기장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연속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배치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시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파트너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스킬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불능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/AI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프리징</a:t>
                      </a:r>
                      <a:endParaRPr sz="1050" b="0" i="0" u="none" dirty="0">
                        <a:solidFill>
                          <a:srgbClr val="94A3B8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파트너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스킬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입력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마비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및 팰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전투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행동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정지</a:t>
                      </a:r>
                      <a:endParaRPr sz="1050" b="0" i="0" u="none" dirty="0">
                        <a:solidFill>
                          <a:srgbClr val="94A3B8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132">
                <a:tc>
                  <a:txBody>
                    <a:bodyPr/>
                    <a:lstStyle/>
                    <a:p>
                      <a:pPr algn="l"/>
                      <a:r>
                        <a:rPr lang="en-US"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QAP=06</a:t>
                      </a:r>
                      <a:endParaRPr sz="1050" b="0" i="0" u="none" dirty="0">
                        <a:solidFill>
                          <a:srgbClr val="94A3B8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High</a:t>
                      </a:r>
                      <a:endParaRPr sz="1050" b="0" i="0" u="none" dirty="0">
                        <a:solidFill>
                          <a:srgbClr val="94A3B8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[LD]</a:t>
                      </a:r>
                      <a:endParaRPr sz="1050" b="0" i="0" u="none" dirty="0">
                        <a:solidFill>
                          <a:srgbClr val="94A3B8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투기장</a:t>
                      </a:r>
                      <a:r>
                        <a:rPr lang="ko-KR" altLang="en-US"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lang="ko-KR" altLang="en-US"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덱</a:t>
                      </a:r>
                      <a:r>
                        <a:rPr lang="ko-KR" altLang="en-US"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편성 부재 및 조합 강제 결함</a:t>
                      </a:r>
                      <a:endParaRPr sz="1050" b="0" i="0" u="none" dirty="0">
                        <a:solidFill>
                          <a:srgbClr val="94A3B8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팰 구성 및 육성의 전략적 다양성 훼손</a:t>
                      </a:r>
                      <a:endParaRPr sz="1050" b="0" i="0" u="none" dirty="0">
                        <a:solidFill>
                          <a:srgbClr val="94A3B8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147149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0550" y="2625476"/>
            <a:ext cx="1101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91580" y="2625476"/>
            <a:ext cx="13212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12876" y="2625476"/>
            <a:ext cx="1101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3907" y="2625476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97912" y="2625476"/>
            <a:ext cx="330353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0550" y="3301751"/>
            <a:ext cx="1101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91580" y="3301751"/>
            <a:ext cx="13212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12876" y="3301751"/>
            <a:ext cx="1101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3907" y="3301751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97912" y="3301751"/>
            <a:ext cx="330353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0550" y="3825626"/>
            <a:ext cx="1101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91580" y="3825626"/>
            <a:ext cx="13212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12876" y="3825626"/>
            <a:ext cx="1101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3907" y="3825626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97912" y="3825626"/>
            <a:ext cx="330353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0550" y="4349501"/>
            <a:ext cx="1101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91580" y="4349501"/>
            <a:ext cx="13212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012876" y="4349501"/>
            <a:ext cx="1101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3907" y="4349501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97912" y="4349501"/>
            <a:ext cx="330353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0550" y="4873376"/>
            <a:ext cx="1101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691580" y="4873376"/>
            <a:ext cx="13212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012876" y="4873376"/>
            <a:ext cx="1101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3907" y="4873376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97912" y="4873376"/>
            <a:ext cx="330353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3425" y="466725"/>
            <a:ext cx="11421427" cy="353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 dirty="0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QA </a:t>
            </a:r>
            <a:r>
              <a:rPr sz="2550" b="1" i="0" u="none" dirty="0" err="1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주요</a:t>
            </a:r>
            <a:r>
              <a:rPr sz="2550" b="1" i="0" u="none" dirty="0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2550" b="1" i="0" u="none" dirty="0" err="1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결함</a:t>
            </a:r>
            <a:r>
              <a:rPr sz="2550" b="1" i="0" u="none" dirty="0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2550" b="1" i="0" u="none" dirty="0" err="1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리포트</a:t>
            </a:r>
            <a:endParaRPr sz="2550" b="1" i="0" u="none" dirty="0">
              <a:solidFill>
                <a:srgbClr val="38BDF8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81025" y="466725"/>
            <a:ext cx="47625" cy="38859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15901"/>
            <a:ext cx="11029950" cy="311943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263660"/>
              </p:ext>
            </p:extLst>
          </p:nvPr>
        </p:nvGraphicFramePr>
        <p:xfrm>
          <a:off x="590550" y="2225426"/>
          <a:ext cx="11010898" cy="3617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1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1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84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03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673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심각도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분류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결함 정의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8BDF8"/>
                          </a:solidFill>
                          <a:latin typeface="Noto Sans KR"/>
                        </a:rPr>
                        <a:t>영향도 분석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QAP-07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[LD]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투기장 전설/마스터 고난도 보상 스케일링 결여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도전 동기 상실 및 지루한 반복 작업 강제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QAP-08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[BAL]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세계수 유물 분해 시 핵심 재화 과도 수급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기존 원정대/교배 콘텐츠 가치 전면 붕괴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QAP-09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[UI/UX]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유물 변환기 자동 정렬 시 UI 레이어 겹침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시각적 오작동 및 아이템 정보 가독성 저하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QAP-10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[UI/UX]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힘의 석상 강화 시 일괄/최대 강화 기능 부재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불필요한 수십 회 연속 클릭 조작 피로 유발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732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QAP-11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Highest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[SYS]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94A3B8"/>
                          </a:solidFill>
                          <a:latin typeface="Noto Sans KR"/>
                        </a:rPr>
                        <a:t>캐티메이지 편성 후 스피어+총기 사격 시 스피어 복사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스피어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무한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증식으로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자원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및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수집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가치</a:t>
                      </a:r>
                      <a:r>
                        <a:rPr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94A3B8"/>
                          </a:solidFill>
                          <a:latin typeface="Noto Sans KR"/>
                        </a:rPr>
                        <a:t>훼손</a:t>
                      </a:r>
                      <a:endParaRPr sz="1050" b="0" i="0" u="none" dirty="0">
                        <a:solidFill>
                          <a:srgbClr val="94A3B8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732">
                <a:tc>
                  <a:txBody>
                    <a:bodyPr/>
                    <a:lstStyle/>
                    <a:p>
                      <a:pPr algn="l"/>
                      <a:r>
                        <a:rPr lang="en-US"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QAP-12</a:t>
                      </a:r>
                      <a:endParaRPr sz="1050" b="0" i="0" u="none" dirty="0">
                        <a:solidFill>
                          <a:srgbClr val="94A3B8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Highest</a:t>
                      </a:r>
                      <a:endParaRPr sz="1050" b="0" i="0" u="none" dirty="0">
                        <a:solidFill>
                          <a:srgbClr val="94A3B8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[SYS]</a:t>
                      </a:r>
                      <a:endParaRPr sz="1050" b="0" i="0" u="none" dirty="0">
                        <a:solidFill>
                          <a:srgbClr val="94A3B8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던전 내부에서 낙하 시 팰 이중 소환 결함</a:t>
                      </a:r>
                      <a:endParaRPr sz="1050" b="0" i="0" u="none" dirty="0">
                        <a:solidFill>
                          <a:srgbClr val="94A3B8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i="0" u="none" dirty="0">
                          <a:solidFill>
                            <a:srgbClr val="94A3B8"/>
                          </a:solidFill>
                          <a:latin typeface="Noto Sans KR"/>
                        </a:rPr>
                        <a:t>기존 콘텐츠의 가치 훼손 및  시스템 붕괴 결함</a:t>
                      </a:r>
                      <a:endParaRPr sz="1050" b="0" i="0" u="none" dirty="0">
                        <a:solidFill>
                          <a:srgbClr val="94A3B8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99741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0550" y="2701676"/>
            <a:ext cx="1101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91580" y="2701676"/>
            <a:ext cx="13212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12876" y="2701676"/>
            <a:ext cx="1101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3907" y="2701676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97912" y="2701676"/>
            <a:ext cx="330353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0550" y="3225551"/>
            <a:ext cx="1101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91580" y="3225551"/>
            <a:ext cx="13212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12876" y="3225551"/>
            <a:ext cx="1101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3907" y="3225551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97912" y="3225551"/>
            <a:ext cx="330353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0550" y="3749426"/>
            <a:ext cx="1101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91580" y="3749426"/>
            <a:ext cx="13212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12876" y="3749426"/>
            <a:ext cx="1101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3907" y="3749426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97912" y="3749426"/>
            <a:ext cx="330353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0550" y="4273301"/>
            <a:ext cx="1101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91580" y="4273301"/>
            <a:ext cx="13212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012876" y="4273301"/>
            <a:ext cx="1101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3907" y="4273301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97912" y="4273301"/>
            <a:ext cx="330353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0550" y="4797176"/>
            <a:ext cx="1101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691580" y="4797176"/>
            <a:ext cx="13212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012876" y="4797176"/>
            <a:ext cx="11010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3907" y="4797176"/>
            <a:ext cx="418400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97912" y="4797176"/>
            <a:ext cx="330353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3425" y="466725"/>
            <a:ext cx="11421427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 dirty="0">
                <a:solidFill>
                  <a:srgbClr val="38BDF8"/>
                </a:solidFill>
                <a:latin typeface="Poppins"/>
              </a:rPr>
              <a:t>QA </a:t>
            </a:r>
            <a:r>
              <a:rPr sz="2550" b="1" i="0" u="none" dirty="0" err="1">
                <a:solidFill>
                  <a:srgbClr val="38BDF8"/>
                </a:solidFill>
                <a:latin typeface="Poppins"/>
              </a:rPr>
              <a:t>주요</a:t>
            </a:r>
            <a:r>
              <a:rPr sz="2550" b="1" i="0" u="none" dirty="0">
                <a:solidFill>
                  <a:srgbClr val="38BDF8"/>
                </a:solidFill>
                <a:latin typeface="Poppins"/>
              </a:rPr>
              <a:t> </a:t>
            </a:r>
            <a:r>
              <a:rPr sz="2550" b="1" i="0" u="none" dirty="0" err="1">
                <a:solidFill>
                  <a:srgbClr val="38BDF8"/>
                </a:solidFill>
                <a:latin typeface="Poppins"/>
              </a:rPr>
              <a:t>결함</a:t>
            </a:r>
            <a:r>
              <a:rPr sz="2550" b="1" i="0" u="none" dirty="0">
                <a:solidFill>
                  <a:srgbClr val="38BDF8"/>
                </a:solidFill>
                <a:latin typeface="Poppins"/>
              </a:rPr>
              <a:t> </a:t>
            </a:r>
            <a:r>
              <a:rPr sz="2550" b="1" i="0" u="none" dirty="0" err="1">
                <a:solidFill>
                  <a:srgbClr val="38BDF8"/>
                </a:solidFill>
                <a:latin typeface="Poppins"/>
              </a:rPr>
              <a:t>리포트</a:t>
            </a:r>
            <a:endParaRPr sz="2550" b="1" i="0" u="none" dirty="0">
              <a:solidFill>
                <a:srgbClr val="38BDF8"/>
              </a:solidFill>
              <a:latin typeface="Poppin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81025" y="466725"/>
            <a:ext cx="47625" cy="38859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90700" y="2346870"/>
            <a:ext cx="90678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Noto Sans KR"/>
              </a:rPr>
              <a:t>성장 계단 및 포획 상한선 재설정:</a:t>
            </a:r>
            <a:r>
              <a:rPr sz="1275" b="0" i="0" u="none">
                <a:solidFill>
                  <a:srgbClr val="CBD5E1"/>
                </a:solidFill>
                <a:latin typeface="Noto Sans KR"/>
              </a:rPr>
              <a:t> 유저 레벨 및 스피어 등급과 보스 팰 간의 최대 포획 확률 상한선(Cap)을 도입하여 초중반 보스 및 콘텐츠 가치를 보존해야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90700" y="3061245"/>
            <a:ext cx="9067800" cy="465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 err="1">
                <a:solidFill>
                  <a:srgbClr val="F8FAFC"/>
                </a:solidFill>
                <a:latin typeface="Noto Sans KR"/>
              </a:rPr>
              <a:t>지형</a:t>
            </a:r>
            <a:r>
              <a:rPr sz="1275" b="1" i="0" u="none" dirty="0">
                <a:solidFill>
                  <a:srgbClr val="F8FAFC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F8FAFC"/>
                </a:solidFill>
                <a:latin typeface="Noto Sans KR"/>
              </a:rPr>
              <a:t>소환</a:t>
            </a:r>
            <a:r>
              <a:rPr sz="1275" b="1" i="0" u="none" dirty="0">
                <a:solidFill>
                  <a:srgbClr val="F8FAFC"/>
                </a:solidFill>
                <a:latin typeface="Noto Sans KR"/>
              </a:rPr>
              <a:t> 및 AI </a:t>
            </a:r>
            <a:r>
              <a:rPr sz="1275" b="1" i="0" u="none" dirty="0" err="1">
                <a:solidFill>
                  <a:srgbClr val="F8FAFC"/>
                </a:solidFill>
                <a:latin typeface="Noto Sans KR"/>
              </a:rPr>
              <a:t>충돌</a:t>
            </a:r>
            <a:r>
              <a:rPr sz="1275" b="1" i="0" u="none" dirty="0">
                <a:solidFill>
                  <a:srgbClr val="F8FAFC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F8FAFC"/>
                </a:solidFill>
                <a:latin typeface="Noto Sans KR"/>
              </a:rPr>
              <a:t>판정</a:t>
            </a:r>
            <a:r>
              <a:rPr sz="1275" b="1" i="0" u="none" dirty="0">
                <a:solidFill>
                  <a:srgbClr val="F8FAFC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F8FAFC"/>
                </a:solidFill>
                <a:latin typeface="Noto Sans KR"/>
              </a:rPr>
              <a:t>개선</a:t>
            </a:r>
            <a:r>
              <a:rPr sz="1275" b="1" i="0" u="none" dirty="0">
                <a:solidFill>
                  <a:srgbClr val="F8FAFC"/>
                </a:solidFill>
                <a:latin typeface="Noto Sans KR"/>
              </a:rPr>
              <a:t>: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경사면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/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절벽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소환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시 Safe Position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좌표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검증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로직을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추가하고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,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사망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시 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지형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아래로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떨어지지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않도록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충돌체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레이어를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CBD5E1"/>
                </a:solidFill>
                <a:latin typeface="Noto Sans KR"/>
              </a:rPr>
              <a:t>재정비합니다</a:t>
            </a:r>
            <a:r>
              <a:rPr sz="1275" b="0" i="0" u="none" dirty="0">
                <a:solidFill>
                  <a:srgbClr val="CBD5E1"/>
                </a:solidFill>
                <a:latin typeface="Noto Sans K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0700" y="3775620"/>
            <a:ext cx="90678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Noto Sans KR"/>
              </a:rPr>
              <a:t>UI/UX 편의성 향상:</a:t>
            </a:r>
            <a:r>
              <a:rPr sz="1275" b="0" i="0" u="none">
                <a:solidFill>
                  <a:srgbClr val="CBD5E1"/>
                </a:solidFill>
                <a:latin typeface="Noto Sans KR"/>
              </a:rPr>
              <a:t> 힘의 석상 강화 시 '최대 강화' 버튼 및 수치 입력 슬라이더를 도입하고, 유물 변환기 자동 정렬 시 UI 레이어 갱신 방식을 순차적 렌더링으로 개선합니다.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0700" y="4489995"/>
            <a:ext cx="90678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Noto Sans KR"/>
              </a:rPr>
              <a:t>엔드 콘텐츠 재화 선순환 구조 재설계:</a:t>
            </a:r>
            <a:r>
              <a:rPr sz="1275" b="0" i="0" u="none">
                <a:solidFill>
                  <a:srgbClr val="CBD5E1"/>
                </a:solidFill>
                <a:latin typeface="Noto Sans KR"/>
              </a:rPr>
              <a:t> 세계수 유물 드랍율과 기존 팰 원정도/레이드 전용 보상 간 역할 분담을 명확히 하여 콘텐츠 간 선순환을 유도해야 합니다.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346870"/>
            <a:ext cx="16311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061245"/>
            <a:ext cx="16311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775620"/>
            <a:ext cx="16311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489995"/>
            <a:ext cx="163115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3425" y="466725"/>
            <a:ext cx="11421427" cy="353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 dirty="0" err="1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종합</a:t>
            </a:r>
            <a:r>
              <a:rPr sz="2550" b="1" i="0" u="none" dirty="0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sz="2550" b="1" i="0" u="none" dirty="0" err="1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개선</a:t>
            </a:r>
            <a:r>
              <a:rPr sz="2550" b="1" i="0" u="none" dirty="0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제</a:t>
            </a:r>
            <a:r>
              <a:rPr lang="ko-KR" altLang="en-US" sz="2550" b="1" i="0" u="none" dirty="0">
                <a:solidFill>
                  <a:srgbClr val="38BDF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안</a:t>
            </a:r>
            <a:endParaRPr sz="2550" b="1" i="0" u="none" dirty="0">
              <a:solidFill>
                <a:srgbClr val="38BDF8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81025" y="466725"/>
            <a:ext cx="47625" cy="38859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1850677"/>
            <a:ext cx="11581447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sz="5400" b="1" i="0" u="none">
                <a:solidFill>
                  <a:srgbClr val="F8FAFC"/>
                </a:solidFill>
                <a:latin typeface="Poppin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2825948"/>
            <a:ext cx="11029950" cy="290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38BDF8"/>
                </a:solidFill>
                <a:latin typeface="Noto Sans KR"/>
              </a:rPr>
              <a:t>Game </a:t>
            </a:r>
            <a:r>
              <a:rPr lang="en-US" sz="1650" dirty="0" err="1">
                <a:solidFill>
                  <a:srgbClr val="38BDF8"/>
                </a:solidFill>
                <a:latin typeface="Noto Sans KR"/>
              </a:rPr>
              <a:t>Palworld</a:t>
            </a:r>
            <a:r>
              <a:rPr lang="ko-KR" altLang="en-US" sz="1650" dirty="0">
                <a:solidFill>
                  <a:srgbClr val="38BDF8"/>
                </a:solidFill>
                <a:latin typeface="Noto Sans KR"/>
              </a:rPr>
              <a:t> </a:t>
            </a:r>
            <a:r>
              <a:rPr sz="1650" b="0" i="0" u="none" dirty="0">
                <a:solidFill>
                  <a:srgbClr val="38BDF8"/>
                </a:solidFill>
                <a:latin typeface="Noto Sans KR"/>
              </a:rPr>
              <a:t>Portfolio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101" y="3521273"/>
            <a:ext cx="3619797" cy="148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67126" y="3835598"/>
            <a:ext cx="2457747" cy="228600"/>
          </a:xfrm>
          <a:prstGeom prst="rect">
            <a:avLst/>
          </a:prstGeom>
          <a:noFill/>
        </p:spPr>
        <p:txBody>
          <a:bodyPr wrap="square" lIns="228748" tIns="0" rIns="0" bIns="0" anchor="t">
            <a:spAutoFit/>
          </a:bodyPr>
          <a:lstStyle/>
          <a:p>
            <a:pPr algn="ctr"/>
            <a:r>
              <a:rPr sz="1350" b="0" i="0" u="none" dirty="0" err="1">
                <a:solidFill>
                  <a:srgbClr val="F8FAFC"/>
                </a:solidFill>
                <a:latin typeface="Noto Sans KR"/>
              </a:rPr>
              <a:t>작성자</a:t>
            </a:r>
            <a:r>
              <a:rPr sz="1350" b="0" i="0" u="none" dirty="0">
                <a:solidFill>
                  <a:srgbClr val="F8FAFC"/>
                </a:solidFill>
                <a:latin typeface="Noto Sans KR"/>
              </a:rPr>
              <a:t>: </a:t>
            </a:r>
            <a:r>
              <a:rPr sz="1350" b="0" i="0" u="none" dirty="0" err="1">
                <a:solidFill>
                  <a:srgbClr val="F8FAFC"/>
                </a:solidFill>
                <a:latin typeface="Noto Sans KR"/>
              </a:rPr>
              <a:t>전성철</a:t>
            </a:r>
            <a:r>
              <a:rPr sz="1350" b="0" i="0" u="none" dirty="0">
                <a:solidFill>
                  <a:srgbClr val="F8FAFC"/>
                </a:solidFill>
                <a:latin typeface="Noto Sans KR"/>
              </a:rPr>
              <a:t> (QA / </a:t>
            </a:r>
            <a:r>
              <a:rPr sz="1350" b="0" i="0" u="none" dirty="0" err="1">
                <a:solidFill>
                  <a:srgbClr val="F8FAFC"/>
                </a:solidFill>
                <a:latin typeface="Noto Sans KR"/>
              </a:rPr>
              <a:t>테스트</a:t>
            </a:r>
            <a:r>
              <a:rPr sz="1350" b="0" i="0" u="none" dirty="0">
                <a:solidFill>
                  <a:srgbClr val="F8FAFC"/>
                </a:solidFill>
                <a:latin typeface="Noto Sans KR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7126" y="4178498"/>
            <a:ext cx="2457747" cy="200025"/>
          </a:xfrm>
          <a:prstGeom prst="rect">
            <a:avLst/>
          </a:prstGeom>
          <a:noFill/>
        </p:spPr>
        <p:txBody>
          <a:bodyPr wrap="square" lIns="228748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F8FAFC"/>
                </a:solidFill>
                <a:latin typeface="Noto Sans KR"/>
              </a:rPr>
              <a:t>junsc0918@naver.com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7126" y="4492823"/>
            <a:ext cx="2457747" cy="200025"/>
          </a:xfrm>
          <a:prstGeom prst="rect">
            <a:avLst/>
          </a:prstGeom>
          <a:noFill/>
        </p:spPr>
        <p:txBody>
          <a:bodyPr wrap="square" lIns="228748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8FAFC"/>
                </a:solidFill>
                <a:latin typeface="Noto Sans KR"/>
              </a:rPr>
              <a:t>010-9068-4036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45605" y="3008858"/>
            <a:ext cx="8700789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745605" y="3770858"/>
            <a:ext cx="8700789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45605" y="3770858"/>
            <a:ext cx="8700789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79897" y="3302815"/>
            <a:ext cx="7605414" cy="1740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62"/>
              </a:lnSpc>
            </a:pPr>
            <a:r>
              <a:rPr lang="en-US" sz="975" b="0" i="0" u="none" dirty="0">
                <a:solidFill>
                  <a:srgbClr val="94A3B8"/>
                </a:solidFill>
                <a:latin typeface="Noto Sans KR"/>
              </a:rPr>
              <a:t>https://www.pocketpair.jp/en/games-en/palworld-en/</a:t>
            </a:r>
            <a:endParaRPr sz="975" b="0" i="0" u="none" dirty="0">
              <a:solidFill>
                <a:srgbClr val="94A3B8"/>
              </a:solidFill>
              <a:latin typeface="Noto Sans K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3425" y="466725"/>
            <a:ext cx="11421427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38BDF8"/>
                </a:solidFill>
                <a:latin typeface="Poppins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466725"/>
            <a:ext cx="47625" cy="38859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88AC3D6-7F4B-E77F-C915-719754BE8A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108" y="3134374"/>
            <a:ext cx="1134292" cy="6364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885</Words>
  <Application>Microsoft Office PowerPoint</Application>
  <PresentationFormat>와이드스크린</PresentationFormat>
  <Paragraphs>116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Noto Sans KR</vt:lpstr>
      <vt:lpstr>굴림</vt:lpstr>
      <vt:lpstr>맑은 고딕</vt:lpstr>
      <vt:lpstr>청소년서체</vt:lpstr>
      <vt:lpstr>Arial</vt:lpstr>
      <vt:lpstr>Arial Black</vt:lpstr>
      <vt:lpstr>Poppins</vt:lpstr>
      <vt:lpstr>Office 테마</vt:lpstr>
      <vt:lpstr>PALWORLD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성철 전</dc:creator>
  <cp:lastModifiedBy>성철 전</cp:lastModifiedBy>
  <cp:revision>1</cp:revision>
  <dcterms:created xsi:type="dcterms:W3CDTF">2026-08-11T19:48:37Z</dcterms:created>
  <dcterms:modified xsi:type="dcterms:W3CDTF">2026-08-12T05:01:55Z</dcterms:modified>
</cp:coreProperties>
</file>